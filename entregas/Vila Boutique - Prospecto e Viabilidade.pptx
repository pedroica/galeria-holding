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5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6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 lugar" id="{67b1c050-f6ad-6efd-2548-c93d5a74438d}">
          <p14:sldIdLst>
            <p14:sldId id="256"/>
            <p14:sldId id="257"/>
            <p14:sldId id="258"/>
            <p14:sldId id="259"/>
          </p14:sldIdLst>
        </p14:section>
        <p14:section name="A casa" id="{75234880-caed-ecc8-5d02-1cf7e16fb5d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O clube" id="{32d66523-0754-8b5d-ce64-3cef75c3856f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omo funciona" id="{2402f6bd-a02c-8940-5340-dd66fa59c4f9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Viabilidade" id="{c307749e-bb55-8c1d-7d8c-3931991c99b7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Fechamento" id="{40724bf0-7ada-1411-7ff6-eecee2afc57d}">
          <p14:sldIdLst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543A"/>
              </a:solidFill>
              <a:ln w="19050" cap="flat">
                <a:solidFill>
                  <a:srgbClr val="F3EEE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F2A1F"/>
              </a:solidFill>
              <a:ln w="19050" cap="flat">
                <a:solidFill>
                  <a:srgbClr val="F3EEE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Equipe</c:v>
                </c:pt>
                <c:pt idx="1">
                  <c:v>Operação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</c:v>
                </c:pt>
                <c:pt idx="1">
                  <c:v>21.5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 por casa</c:v>
                </c:pt>
              </c:strCache>
            </c:strRef>
          </c:tx>
          <c:spPr>
            <a:solidFill>
              <a:srgbClr val="DDB3A3"/>
            </a:solidFill>
            <a:effectLst/>
          </c:spPr>
          <c:invertIfNegative val="0"/>
          <c:dLbls>
            <c:numFmt formatCode="#&quot;.&quot;###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1F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DB3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54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54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28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Ninguém usa nada</c:v>
                  </c:pt>
                  <c:pt idx="1">
                    <c:v>Uso médio</c:v>
                  </c:pt>
                  <c:pt idx="2">
                    <c:v>Uso forte</c:v>
                  </c:pt>
                  <c:pt idx="3">
                    <c:v>Caseiro próprio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5050</c:v>
                </c:pt>
                <c:pt idx="1">
                  <c:v>3250</c:v>
                </c:pt>
                <c:pt idx="2">
                  <c:v>1800</c:v>
                </c:pt>
                <c:pt idx="3">
                  <c:v>5000</c:v>
                </c:pt>
              </c:numCache>
            </c:numRef>
          </c:val>
        </c:ser>
        <c:dLbls>
          <c:numFmt formatCode="#&quot;.&quot;###" sourceLinked="0"/>
          <c:txPr>
            <a:bodyPr/>
            <a:lstStyle/>
            <a:p>
              <a:pPr>
                <a:defRPr b="0" i="0" strike="noStrike" sz="1400" u="none">
                  <a:solidFill>
                    <a:srgbClr val="1F2A1F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1F"/>
                </a:solidFill>
                <a:latin typeface="Helvetica Neue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Ligh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de venda de 12%</c:v>
                </c:pt>
              </c:strCache>
            </c:strRef>
          </c:tx>
          <c:spPr>
            <a:solidFill>
              <a:srgbClr val="1F2A1F"/>
            </a:solidFill>
            <a:effectLst/>
          </c:spPr>
          <c:invertIfNegative val="0"/>
          <c:dLbls>
            <c:numFmt formatCode="0&quot;,&quot;0;-0&quot;,&quot;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1F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R$ 9.000/m²</c:v>
                  </c:pt>
                  <c:pt idx="1">
                    <c:v>R$ 8.500/m²</c:v>
                  </c:pt>
                  <c:pt idx="2">
                    <c:v>R$ 8.000/m²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5</c:v>
                </c:pt>
                <c:pt idx="2">
                  <c:v>-11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RET de 4%</c:v>
                </c:pt>
              </c:strCache>
            </c:strRef>
          </c:tx>
          <c:spPr>
            <a:solidFill>
              <a:srgbClr val="B5543A"/>
            </a:solidFill>
            <a:effectLst/>
          </c:spPr>
          <c:invertIfNegative val="0"/>
          <c:dLbls>
            <c:numFmt formatCode="0&quot;,&quot;0;-0&quot;,&quot;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1F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R$ 9.000/m²</c:v>
                  </c:pt>
                  <c:pt idx="1">
                    <c:v>R$ 8.500/m²</c:v>
                  </c:pt>
                  <c:pt idx="2">
                    <c:v>R$ 8.000/m²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</c:v>
                </c:pt>
                <c:pt idx="1">
                  <c:v>13</c:v>
                </c:pt>
                <c:pt idx="2">
                  <c:v>-3</c:v>
                </c:pt>
              </c:numCache>
            </c:numRef>
          </c:val>
        </c:ser>
        <c:dLbls>
          <c:numFmt formatCode="0&quot;,&quot;0;-0&quot;,&quot;0" sourceLinked="0"/>
          <c:txPr>
            <a:bodyPr/>
            <a:lstStyle/>
            <a:p>
              <a:pPr>
                <a:defRPr b="0" i="0" strike="noStrike" sz="1300" u="none">
                  <a:solidFill>
                    <a:srgbClr val="1F2A1F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928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1F"/>
                </a:solidFill>
                <a:latin typeface="Helvetica Neue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-1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Helvetica Neue Ligh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A1F"/>
              </a:solidFill>
              <a:latin typeface="Helvetica Neue Light"/>
              <a:cs typeface="Helvetica Neue Ligh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DDB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6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18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24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30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36</c:v>
                  </c:pt>
                </c:lvl>
              </c:multiLvlStrCache>
            </c:multiLvl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-11</c:v>
                </c:pt>
                <c:pt idx="1">
                  <c:v>-11.5</c:v>
                </c:pt>
                <c:pt idx="2">
                  <c:v>-12</c:v>
                </c:pt>
                <c:pt idx="3">
                  <c:v>-13.67</c:v>
                </c:pt>
                <c:pt idx="4">
                  <c:v>0</c:v>
                </c:pt>
                <c:pt idx="5">
                  <c:v>-6.35</c:v>
                </c:pt>
                <c:pt idx="6">
                  <c:v>-7.02</c:v>
                </c:pt>
                <c:pt idx="7">
                  <c:v>0</c:v>
                </c:pt>
                <c:pt idx="8">
                  <c:v>-2.72</c:v>
                </c:pt>
                <c:pt idx="9">
                  <c:v>0</c:v>
                </c:pt>
                <c:pt idx="10">
                  <c:v>0</c:v>
                </c:pt>
                <c:pt idx="11">
                  <c:v>-1.77</c:v>
                </c:pt>
                <c:pt idx="12">
                  <c:v>0</c:v>
                </c:pt>
                <c:pt idx="13">
                  <c:v>0</c:v>
                </c:pt>
                <c:pt idx="14">
                  <c:v>-3.77</c:v>
                </c:pt>
                <c:pt idx="15">
                  <c:v>0</c:v>
                </c:pt>
                <c:pt idx="16">
                  <c:v>-1.99</c:v>
                </c:pt>
                <c:pt idx="17">
                  <c:v>-6.91</c:v>
                </c:pt>
                <c:pt idx="18">
                  <c:v>-0.22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Pico</c:v>
                </c:pt>
              </c:strCache>
            </c:strRef>
          </c:tx>
          <c:spPr>
            <a:solidFill>
              <a:srgbClr val="B5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6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18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24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30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36</c:v>
                  </c:pt>
                </c:lvl>
              </c:multiLvlStrCache>
            </c:multiLvl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-15.83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1F2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6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18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24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30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36</c:v>
                  </c:pt>
                </c:lvl>
              </c:multiLvlStrCache>
            </c:multiLvl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0.54</c:v>
                </c:pt>
                <c:pt idx="8">
                  <c:v>0</c:v>
                </c:pt>
                <c:pt idx="9">
                  <c:v>5.67</c:v>
                </c:pt>
                <c:pt idx="10">
                  <c:v>1.96</c:v>
                </c:pt>
                <c:pt idx="11">
                  <c:v>0</c:v>
                </c:pt>
                <c:pt idx="12">
                  <c:v>6.13</c:v>
                </c:pt>
                <c:pt idx="13">
                  <c:v>1.2</c:v>
                </c:pt>
                <c:pt idx="14">
                  <c:v>0</c:v>
                </c:pt>
                <c:pt idx="15">
                  <c:v>2.87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1.32</c:v>
                </c:pt>
                <c:pt idx="20">
                  <c:v>2.78</c:v>
                </c:pt>
                <c:pt idx="21">
                  <c:v>15.84</c:v>
                </c:pt>
                <c:pt idx="22">
                  <c:v>13.07</c:v>
                </c:pt>
                <c:pt idx="23">
                  <c:v>21.88</c:v>
                </c:pt>
                <c:pt idx="24">
                  <c:v>18.31</c:v>
                </c:pt>
                <c:pt idx="25">
                  <c:v>14.65</c:v>
                </c:pt>
                <c:pt idx="26">
                  <c:v>10.06</c:v>
                </c:pt>
                <c:pt idx="27">
                  <c:v>5.38</c:v>
                </c:pt>
                <c:pt idx="28">
                  <c:v>13.72</c:v>
                </c:pt>
                <c:pt idx="29">
                  <c:v>11.33</c:v>
                </c:pt>
                <c:pt idx="30">
                  <c:v>8.91</c:v>
                </c:pt>
                <c:pt idx="31">
                  <c:v>8.55</c:v>
                </c:pt>
                <c:pt idx="32">
                  <c:v>6.04</c:v>
                </c:pt>
                <c:pt idx="33">
                  <c:v>3.49</c:v>
                </c:pt>
                <c:pt idx="34">
                  <c:v>3.03</c:v>
                </c:pt>
                <c:pt idx="35">
                  <c:v>0.42</c:v>
                </c:pt>
                <c:pt idx="36">
                  <c:v>5.03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F2A1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F2A1F"/>
                    </a:solidFill>
                    <a:latin typeface="Arial"/>
                  </a:rPr>
                  <a:t>mês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9285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1F"/>
                </a:solidFill>
                <a:latin typeface="Helvetica Neue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-25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F2A1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F2A1F"/>
                    </a:solidFill>
                    <a:latin typeface="Arial"/>
                  </a:rPr>
                  <a:t>R$ milhões</a:t>
                </a:r>
              </a:p>
            </c:rich>
          </c:tx>
          <c:layout/>
          <c:overlay val="0"/>
        </c:title>
        <c:numFmt formatCode="0&quot;,&quot;0;-0&quot;,&quot;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1F"/>
                </a:solidFill>
                <a:latin typeface="Helvetica Neue Ligh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DDB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Sheet1!$A$2:$A$44</c:f>
              <c:multiLvlStrCache>
                <c:ptCount val="43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6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18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24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30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36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42</c:v>
                  </c:pt>
                </c:lvl>
              </c:multiLvlStrCache>
            </c:multiLvl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-11</c:v>
                </c:pt>
                <c:pt idx="1">
                  <c:v>-11.5</c:v>
                </c:pt>
                <c:pt idx="2">
                  <c:v>-12</c:v>
                </c:pt>
                <c:pt idx="3">
                  <c:v>-13.67</c:v>
                </c:pt>
                <c:pt idx="4">
                  <c:v>-15.83</c:v>
                </c:pt>
                <c:pt idx="5">
                  <c:v>-18</c:v>
                </c:pt>
                <c:pt idx="6">
                  <c:v>0</c:v>
                </c:pt>
                <c:pt idx="7">
                  <c:v>-19.5</c:v>
                </c:pt>
                <c:pt idx="8">
                  <c:v>-19.5</c:v>
                </c:pt>
                <c:pt idx="9">
                  <c:v>-19.5</c:v>
                </c:pt>
                <c:pt idx="10">
                  <c:v>-19.5</c:v>
                </c:pt>
                <c:pt idx="11">
                  <c:v>-7.85</c:v>
                </c:pt>
                <c:pt idx="12">
                  <c:v>-7.02</c:v>
                </c:pt>
                <c:pt idx="13">
                  <c:v>0</c:v>
                </c:pt>
                <c:pt idx="14">
                  <c:v>-2.72</c:v>
                </c:pt>
                <c:pt idx="15">
                  <c:v>0</c:v>
                </c:pt>
                <c:pt idx="16">
                  <c:v>0</c:v>
                </c:pt>
                <c:pt idx="17">
                  <c:v>-1.77</c:v>
                </c:pt>
                <c:pt idx="18">
                  <c:v>0</c:v>
                </c:pt>
                <c:pt idx="19">
                  <c:v>0</c:v>
                </c:pt>
                <c:pt idx="20">
                  <c:v>-3.77</c:v>
                </c:pt>
                <c:pt idx="21">
                  <c:v>0</c:v>
                </c:pt>
                <c:pt idx="22">
                  <c:v>-1.99</c:v>
                </c:pt>
                <c:pt idx="23">
                  <c:v>-6.91</c:v>
                </c:pt>
                <c:pt idx="24">
                  <c:v>-0.22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Pico</c:v>
                </c:pt>
              </c:strCache>
            </c:strRef>
          </c:tx>
          <c:spPr>
            <a:solidFill>
              <a:srgbClr val="B554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Sheet1!$A$2:$A$44</c:f>
              <c:multiLvlStrCache>
                <c:ptCount val="43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6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18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24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30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36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42</c:v>
                  </c:pt>
                </c:lvl>
              </c:multiLvlStrCache>
            </c:multiLvlStrRef>
          </c:cat>
          <c:val>
            <c:numRef>
              <c:f>Sheet1!$C$2:$C$44</c:f>
              <c:numCache>
                <c:formatCode>General</c:formatCode>
                <c:ptCount val="4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-19.5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1F2A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Sheet1!$A$2:$A$44</c:f>
              <c:multiLvlStrCache>
                <c:ptCount val="43"/>
                <c:lvl>
                  <c:pt idx="0">
                    <c:v>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6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12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18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24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30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36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42</c:v>
                  </c:pt>
                </c:lvl>
              </c:multiLvlStrCache>
            </c:multiLvlStrRef>
          </c:cat>
          <c:val>
            <c:numRef>
              <c:f>Sheet1!$D$2:$D$44</c:f>
              <c:numCache>
                <c:formatCode>General</c:formatCode>
                <c:ptCount val="4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0.54</c:v>
                </c:pt>
                <c:pt idx="14">
                  <c:v>0</c:v>
                </c:pt>
                <c:pt idx="15">
                  <c:v>5.67</c:v>
                </c:pt>
                <c:pt idx="16">
                  <c:v>1.96</c:v>
                </c:pt>
                <c:pt idx="17">
                  <c:v>0</c:v>
                </c:pt>
                <c:pt idx="18">
                  <c:v>6.13</c:v>
                </c:pt>
                <c:pt idx="19">
                  <c:v>1.2</c:v>
                </c:pt>
                <c:pt idx="20">
                  <c:v>0</c:v>
                </c:pt>
                <c:pt idx="21">
                  <c:v>2.87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1.32</c:v>
                </c:pt>
                <c:pt idx="26">
                  <c:v>2.78</c:v>
                </c:pt>
                <c:pt idx="27">
                  <c:v>15.84</c:v>
                </c:pt>
                <c:pt idx="28">
                  <c:v>13.07</c:v>
                </c:pt>
                <c:pt idx="29">
                  <c:v>21.88</c:v>
                </c:pt>
                <c:pt idx="30">
                  <c:v>18.31</c:v>
                </c:pt>
                <c:pt idx="31">
                  <c:v>14.65</c:v>
                </c:pt>
                <c:pt idx="32">
                  <c:v>10.06</c:v>
                </c:pt>
                <c:pt idx="33">
                  <c:v>5.38</c:v>
                </c:pt>
                <c:pt idx="34">
                  <c:v>13.72</c:v>
                </c:pt>
                <c:pt idx="35">
                  <c:v>11.33</c:v>
                </c:pt>
                <c:pt idx="36">
                  <c:v>8.91</c:v>
                </c:pt>
                <c:pt idx="37">
                  <c:v>8.55</c:v>
                </c:pt>
                <c:pt idx="38">
                  <c:v>6.04</c:v>
                </c:pt>
                <c:pt idx="39">
                  <c:v>3.49</c:v>
                </c:pt>
                <c:pt idx="40">
                  <c:v>3.03</c:v>
                </c:pt>
                <c:pt idx="41">
                  <c:v>0.42</c:v>
                </c:pt>
                <c:pt idx="42">
                  <c:v>5.03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F2A1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F2A1F"/>
                    </a:solidFill>
                    <a:latin typeface="Arial"/>
                  </a:rPr>
                  <a:t>mês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9285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1F"/>
                </a:solidFill>
                <a:latin typeface="Helvetica Neue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-25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F2A1F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F2A1F"/>
                    </a:solidFill>
                    <a:latin typeface="Arial"/>
                  </a:rPr>
                  <a:t>R$ milhões</a:t>
                </a:r>
              </a:p>
            </c:rich>
          </c:tx>
          <c:layout/>
          <c:overlay val="0"/>
        </c:title>
        <c:numFmt formatCode="0&quot;,&quot;0;-0&quot;,&quot;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1F"/>
                </a:solidFill>
                <a:latin typeface="Helvetica Neue Ligh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5543A"/>
              </a:solidFill>
              <a:ln w="19050" cap="flat">
                <a:solidFill>
                  <a:srgbClr val="F3EEE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DB3A3"/>
              </a:solidFill>
              <a:ln w="19050" cap="flat">
                <a:solidFill>
                  <a:srgbClr val="F3EEE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F2A1F"/>
              </a:solidFill>
              <a:ln w="19050" cap="flat">
                <a:solidFill>
                  <a:srgbClr val="F3EEE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Entrada</c:v>
                </c:pt>
                <c:pt idx="1">
                  <c:v>Obra</c:v>
                </c:pt>
                <c:pt idx="2">
                  <c:v>Após a entrega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EIA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GO">
    <p:bg>
      <p:bgPr>
        <a:solidFill>
          <a:srgbClr val="1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PROSPECTO E VIABILIDADE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49224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0000"/>
              </a:lnSpc>
              <a:buNone/>
            </a:pPr>
            <a:r>
              <a:rPr lang="en-US" sz="92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</a:t>
            </a:r>
            <a:endParaRPr lang="en-US" sz="9200" dirty="0"/>
          </a:p>
          <a:p>
            <a:pPr indent="0" marL="0">
              <a:lnSpc>
                <a:spcPct val="80000"/>
              </a:lnSpc>
              <a:buNone/>
            </a:pPr>
            <a:r>
              <a:rPr lang="en-US" sz="92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BOUTIQUE</a:t>
            </a:r>
            <a:endParaRPr lang="en-US" sz="92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1143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Dez casas, um clube e uma pequena fazenda no corredor da Castelo Branco.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2331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IPERÓ E BOITUVA, SÃO PAULO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606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OUTUBRO DE 2026</a:t>
            </a:r>
            <a:endParaRPr lang="en-US" sz="950" dirty="0"/>
          </a:p>
        </p:txBody>
      </p:sp>
      <p:pic>
        <p:nvPicPr>
          <p:cNvPr id="7" name="Image 0" descr="/tmp/claude-0/-home-user-Galeria-Holding/b4921ee9-f566-55d3-9d07-d5e740786f35/scratchpad/build/img/fach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29000"/>
            <a:ext cx="11155680" cy="2979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MANIFESTO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34440"/>
            <a:ext cx="7498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Chegar na sexta, abrir o portão pelo celular e encontrar a casa pronta, a cama feita e a geladeira cheia. Passar o fim de semana entre a quadra, o picadeiro e a horta, e voltar no domingo sem ter cuidado de nada.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48</a:t>
            </a:r>
            <a:endParaRPr lang="en-US" sz="15000" dirty="0"/>
          </a:p>
        </p:txBody>
      </p:sp>
      <p:sp>
        <p:nvSpPr>
          <p:cNvPr id="7" name="Text 5"/>
          <p:cNvSpPr txBox="1"/>
          <p:nvPr/>
        </p:nvSpPr>
        <p:spPr>
          <a:xfrm>
            <a:off x="886968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HORAS DE SEXTA A DOMINGO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36118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Para uma família que trabalha a semana inteira em São Paulo, o tempo na casa de campo é curto demais para ser gasto com manutenção.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TERRENO E A REGIÃO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CORREDOR DA CASTELO BRANCO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DISTÂNCIA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1h30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São Paulo, por rodovia duplicada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A Castelo Branco é a saída mais fluida da capital para o interior. Dá para sair do escritório no fim da tarde e jantar na vila.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TERRENO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3 ha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Retângulo de 150 × 200 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Trinta mil metros quadrados em forma simples, fácil de parcelar, com espaço para ruas de saibro, quadras, picadeiro e lago.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REGIÃO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Iperó e Boituva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Terra de haras, sítios e da Floresta Nacional de Ipanema. Boituva é conhecida pelo paraquedismo; Iperó guarda a mata e o silêncio.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800" dirty="0"/>
          </a:p>
        </p:txBody>
      </p:sp>
      <p:pic>
        <p:nvPicPr>
          <p:cNvPr id="4" name="Image 0" descr="/tmp/claude-0/-home-user-Galeria-Holding/b4921ee9-f566-55d3-9d07-d5e740786f35/scratchpad/build/img/implant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602915" cy="5577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43800" y="5669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IMPLANTAÇÃO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7543800" y="86868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VILA PARA PERCORRER A PÉ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148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22128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lotes de 2.000 m², com 40 m de frente e 50 m de fundo, em duas fileiras de cinco.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0449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8 m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31089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de via central em saibro compactado, sem asfalto.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94106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8.400 m²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40050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de clube em faixa contínua ao longo de uma das laterais longas.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48371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700 m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4901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de trilha de corrida pelo perímetro interno; duas voltas somam 1,4 km.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57150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Os pavilhões ficam espalhados de ponta a ponta do clube, para que a vida da vila aconteça caminhando.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F3EEE4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000" b="1" dirty="0">
                <a:solidFill>
                  <a:srgbClr val="F3EE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CASA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00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EEE4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Térrea, com 450 m², pronta para a primeira sexta-feira.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CASA TIPO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TÉRREA, DE TELHA E MADEIRA</a:t>
            </a:r>
            <a:endParaRPr lang="en-US" sz="3800" dirty="0"/>
          </a:p>
        </p:txBody>
      </p:sp>
      <p:pic>
        <p:nvPicPr>
          <p:cNvPr id="6" name="Image 0" descr="/tmp/claude-0/-home-user-Galeria-Holding/b4921ee9-f566-55d3-9d07-d5e740786f35/scratchpad/build/img/fach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57400"/>
            <a:ext cx="11155680" cy="29790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5212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TELHADO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486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Cerâmico, em duas águas, com beiral generoso sobre a varanda.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5212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CAIXILHOS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5486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Madeira, com grandes portas de vidro abrindo para o jardim.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5212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PALETA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486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Quatro cores terrosas, iguais em toda a vila.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VEM NA CASA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PRONTA PARA MORAR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ARQUITETURA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450 m²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Três tipologias térreas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Projeto do arquiteto Castelo Branco, com pé-direito alto, telhado cerâmico de duas águas, piso cerâmico e caixilhos de madeira.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obras para o comprador tocar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Cozinha e banheiros instalados, ar-condicionado e churrasqueira na varanda. Chega-se com a mala.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LAZER PRIVADO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 + 1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Vagas cobertas e piscina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Garagem coberta para dois carros e o carrinho elétrico, piscina privativa e varanda voltada para o jardim.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800" dirty="0"/>
          </a:p>
        </p:txBody>
      </p:sp>
      <p:pic>
        <p:nvPicPr>
          <p:cNvPr id="4" name="Image 0" descr="/tmp/claude-0/-home-user-Galeria-Holding/b4921ee9-f566-55d3-9d07-d5e740786f35/scratchpad/build/img/l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4367631" cy="5577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5669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LOTE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868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LOTE SEM MURO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600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2.000 m²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7614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Cerca viva nos quatro lados. Nenhum muro entre vizinhos.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538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ACESSO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5112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Portão com videoporteiro e fechadura eletrônica aberta pelo celular.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42885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QUINTAL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42611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Horta, pomar e galinheiro individuais, com paisagismo de Daniel Nunes.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5212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Ninguém entra sem tocar a campainha. Cada casa é uma pequena vila dentro da vila.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PACOTE DE CONFORTO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ENERGIA, CONEXÃO E MOBILIDADE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ENERGIA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25 mil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Solar, bateria e carregador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Painéis solares de R$ 25 mil, estação de bateria tipo powerwall para segurar a casa quando a rede cai e carregador para o carrinho.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CONEXÃO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 Gbps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Fibra dedicada e Starlink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Rede cabeada em todos os cômodos e pontos de TV, quatro access points profissionais. Tudo incluído no condomínio.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MOBILIDADE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4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lugares no carrinho elétrico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Do portão ao picadeiro, da quadra ao empório, sem tirar o carro da garagem.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989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VENDIDO POR R$ 250 MIL  ·  CUSTO DE R$ 170 MIL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O COMPRADOR NUNCA VAI PRECISAR FAZER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NADA ALÉM DE CHEGAR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535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Cortar a grama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Jardim, cerca viva e pomar ficam com a equipe da vila.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72788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9535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Limpar a piscina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Tratamento e limpeza semanais, incluídos no rateio.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59775" y="2331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259775" y="29535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Fazer a cama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3337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Enxoval do condomínio bordado com o nome da família, trocado toda semana.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919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Tratar das galinhas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303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Ovos recolhidos, horta regada e galinheiro limpo.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72788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05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4472788" y="4919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Chamar o técnico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72788" y="5303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Fibra, Wi-Fi e Starlink monitorados pela gerência.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59775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8259775" y="4919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Lavar a louça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59775" y="5303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Churrasco e pizzada servidos e recolhidos pela equipe.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F3EEE4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000" b="1" dirty="0">
                <a:solidFill>
                  <a:srgbClr val="F3EE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00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EEE4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Sete blocos espalhados pelo terreno, para usar a vila inteira.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  ·  01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CASA GRANDE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250 m²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 centro social da vila: onde se acende o forno no sábado, se escolhe o vinho e se busca o pão.</a:t>
            </a:r>
            <a:endParaRPr lang="en-US" sz="1400" dirty="0"/>
          </a:p>
        </p:txBody>
      </p:sp>
      <p:pic>
        <p:nvPicPr>
          <p:cNvPr id="8" name="Image 0" descr="/tmp/claude-0/-home-user-Galeria-Holding/b4921ee9-f566-55d3-9d07-d5e740786f35/scratchpad/build/img/casagran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103120"/>
            <a:ext cx="7223760" cy="20795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97680" y="4892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FOGO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5166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Forno de pizza, churrasqueira e cozinha de apoio.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4892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ADEGA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5166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Adega e sala de charuto, em regime de honor bar.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4892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EMPÓRIO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5166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Empório da vila e ponto de coleta da lavanderia.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  ·  02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CASA DE ESPORTES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250 m²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Equipamento de hotel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Esteira Life Fitness, rack, dumbbells e bikes de spinning, seminovos de primeira linha.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ÁGUA E CALOR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Sauna seca, sauna úmida e jacuzzi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Jacuzzi coberta para depois do tênis e duas saunas para fechar o domingo.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BELEZA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de frente para a melhor vista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Lavatório, cadeira, manicure e maca. Enxuta, para cabeleireiro e massagista agendados pelo concierge.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  ·  03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SALÃO DE JOGOS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80 m²</a:t>
            </a:r>
            <a:endParaRPr lang="en-US" sz="110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23317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Pensado para a noite de chuva e para as crianças se juntarem sem hora marcada.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343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9834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Ping-pong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899334" y="4343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899334" y="49834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Pebolim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112868" y="4343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112868" y="49834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Sinuca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26401" y="4343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326401" y="49834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Fliperamas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539935" y="4343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05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539935" y="49834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Telão com videogame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  ·  04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ESPORTE TODO DIA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TÊNIS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46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18 × 36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Cobertura retrátil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Joga-se com sol ou com chuva. Professor agendado pelo concierge.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00018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BEACH TENNIS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500018" y="2788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46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8 × 16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3500018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Quadra de areia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00018" y="45720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 esporte que junta pais e filhos na mesma partida.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14237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PISCINA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314237" y="2788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46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raia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6314237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Aquecida, ao ar livre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14237" y="45720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Piscina de raia em vinil, para nadar de verdade o ano inteiro.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28455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TRILHA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28455" y="2788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46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700 m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9128455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Terra batida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128455" y="45720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Corrida pelo perímetro, entre a cerca viva e os pastos.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  ·  05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CAVALOS</a:t>
            </a:r>
            <a:endParaRPr lang="en-US" sz="3800" dirty="0"/>
          </a:p>
        </p:txBody>
      </p:sp>
      <p:pic>
        <p:nvPicPr>
          <p:cNvPr id="6" name="Image 0" descr="/tmp/claude-0/-home-user-Galeria-Holding/b4921ee9-f566-55d3-9d07-d5e740786f35/scratchpad/build/img/picadei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685800"/>
            <a:ext cx="6858000" cy="18963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88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PICADEIRO COBERTO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5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20 × 30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160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chuva e para aulas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846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Estrutura leve, aberta nas laterais, com piso de areia.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72788" y="2788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PISTA EXTERNA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472788" y="30632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5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20 × 60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4472788" y="4160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areia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472788" y="4846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Para treino e salto ao ar livre, ao lado do piquete.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59775" y="27889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APOIO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259775" y="30632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5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</a:t>
            </a:r>
            <a:endParaRPr lang="en-US" sz="5400" dirty="0"/>
          </a:p>
        </p:txBody>
      </p:sp>
      <p:sp>
        <p:nvSpPr>
          <p:cNvPr id="17" name="Text 14"/>
          <p:cNvSpPr txBox="1"/>
          <p:nvPr/>
        </p:nvSpPr>
        <p:spPr>
          <a:xfrm>
            <a:off x="8259775" y="4160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boxes de espera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59775" y="4846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Piquete, dois boxes e sala de sela para receber os animais.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Os cavalos ficam em pensão no haras vizinho e chegam pela porteira. Aulas de equitação e passeios são vendidos pelo concierge.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  ·  06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PEQUENA FAZENDA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GALINHEIRO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100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galinhas caipiras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Ovos frescos para as casas e para o empório.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5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espécies soltas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Alpacas, lhamas, mini burros, pôneis e gansos, que praticamente cuidam de si mesmos.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QUEIJARIA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pecorino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ovelhas leiteiras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Queijo da casa, curado na vila e vendido no empório.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Apiário, lago com tilápia para pesca e comedouros e bebedouros de passarinho pela trilha e pelas varandas.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CLUBE  ·  07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PAVILHÕES LEVES, ESPALHADOS</a:t>
            </a:r>
            <a:endParaRPr lang="en-US" sz="3800" dirty="0"/>
          </a:p>
        </p:txBody>
      </p:sp>
      <p:pic>
        <p:nvPicPr>
          <p:cNvPr id="6" name="Image 0" descr="/tmp/claude-0/-home-user-Galeria-Holding/b4921ee9-f566-55d3-9d07-d5e740786f35/scratchpad/build/img/pavilh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11155680" cy="218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434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CASCA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R$ 1.100/m²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349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Estrutura metálica modular, tipo Mopo, montada em semanas.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72788" y="4434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472788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R$ 300/m²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472788" y="5349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Radier simples e acabamento rústico em madeira e cerâmica.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59775" y="4434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ÁREA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59775" y="4663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580 m²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259775" y="5349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Casa Grande, Casa de esportes e salão de jogos, separados de propósito.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F3EEE4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000" b="1" dirty="0">
                <a:solidFill>
                  <a:srgbClr val="F3EE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FUNCIONA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00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EEE4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Um condomínio que se paga usando.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CONCEITO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CONDOMÍNIO QUE SE PAGA USANDO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 BRUTO POR CASA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5.050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reais por mês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Equipe, lavanderia, internet, segurança, manutenção do clube e insumos da fazenda.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ABATIDO PELO USO MÉDIO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1.800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reais por mês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Margem do empório, dos eventos, do concierge e da produção da fazenda.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RATEIO FINAL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3.250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reais por mês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 que cada casa paga no boleto quando a vila é usada como se espera.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Tudo o que a vila vende aos moradores tem margem. Essa margem não vira lucro de ninguém: volta inteira para abater o condomínio.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SERVIÇOS INCLUSOS NO RATEIO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EQUIPE CUIDA DE TUDO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CADA CASA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frentes de manutenção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Jardim, cerca viva, horta, galinheiro e piscina de cada casa, cuidados pela equipe da vila.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LAVANDERIA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2ª e 5ª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Coleta na segunda, entrega na quinta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Lavanderia terceirizada. A roupa volta limpa e passada antes do fim de semana.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24 h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Internet e segurança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Fibra de 1 giga com Starlink de reserva, vigia noturno e monitoramento remoto.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EMPÓRIO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EMPÓRIO QUE OS MORADORES MONTAM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30%</a:t>
            </a:r>
            <a:endParaRPr lang="en-US" sz="1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94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MARGEM SOBRE A NOTA DE COMPRA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2402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Os moradores dizem o que querem encontrar: o croissant de sábado, o carvão, as massas, os molhos, os ingredientes do fondue. A vila compra, guarda e lança no boleto, com margem transparente sobre a nota.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892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 VILA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Horta, ovos, mel e pecorino produzidos aqui.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4892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BOLETO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Sem caixa nem cartão. Tudo lançado no condomínio.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4892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O RATEIO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 lucro inteiro abate o custo do condomínio.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HOSPITALIDADE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SÁBADO JÁ VEM PRONTO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PREÇOS PARA 12 PESSOAS, EM REAIS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2.250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Churrasco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com churrasqueiro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603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1.500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Pizzada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com pizzaiolo e forno a lenha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59775" y="25603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6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1.250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Hamburgada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com chapa e chapeiro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846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Encomenda até quinta. As compras são feitas na região e o preço é a soma de insumos, profissional e 25% de organização. O morador não lava louça.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48463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Adega e charutaria funcionam como honor bar: cada um se serve, anota e paga no boleto, com margem de 30%.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CONCIERGE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GERENTE DE HOTEL NO WHATSAPP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15%</a:t>
            </a:r>
            <a:endParaRPr lang="en-US" sz="1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94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 O SERVIÇO, ABATIDO DO RATEIO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Cabeleireiro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Manicure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770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Massagista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70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Veterinário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3009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3009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de tênis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831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Aula de equitação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831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Babá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8463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Um único contato resolve tudo, com perfil hoteleiro e fornecedores da região. A comissão do concierge também volta para o condomínio.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 DO CONDOMÍNIO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QUANTO CUSTA MANTER A VILA</a:t>
            </a:r>
            <a:endParaRPr lang="en-US" sz="3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640080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Caseiro gerente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Três auxiliares: jardim, hortas e galinheiros, piscinas e manutenção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Vigia noturno e monitoramento remoto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Internet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2,5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Energia e água, com solar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Lavanderia terceirizada, 25 kg por casa por semana a R$ 7/kg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Manutenção de piscina, quadras, picadeiro, academia e Casa Grande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Insumos de fazenda, hortas, piscinas e animais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Fundo de reserva</a:t>
                      </a:r>
                      <a:endParaRPr lang="en-US" sz="12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300" kern="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TOTAL MENSAL, R$ MIL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B5543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50,5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7818120" y="210312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818120" y="3337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2A1F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5.050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818120" y="3977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CASA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7589520" y="5623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Equipe  </a:t>
            </a:r>
            <a:pPr algn="ctr"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29 mil   </a:t>
            </a:r>
            <a:pPr algn="ctr" indent="0" marL="0">
              <a:buNone/>
            </a:pPr>
            <a:r>
              <a:rPr lang="en-US" sz="13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Operação  </a:t>
            </a:r>
            <a:pPr algn="ctr"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21,5 mil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RATEIO FINAL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BOLETO DEPENDE DO USO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ABATIMENTOS MENSAIS ESTIMADOS, R$ MIL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Empório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Hospitalidade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Concierge e aulas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Fazenda: ovos, mel, pecorino e cestas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4069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553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303520" y="2148840"/>
          <a:ext cx="6309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394960" y="55778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Um caseiro próprio custa R$ 5 mil por mês e não cuida de piscina, galinha, internet nem cama feita.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F3EEE4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000" b="1" dirty="0">
                <a:solidFill>
                  <a:srgbClr val="F3EE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VIABILIDADE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00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EEE4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Números para decidir, com as premissas à vista.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CAPEX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R$ 9,47 MILHÕES PARA FAZER A VILA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TERRA E INFRAESTRUTURA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3.710</a:t>
            </a:r>
            <a:endParaRPr lang="en-US" sz="4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200400"/>
          <a:ext cx="32461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Terreno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1.100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Projetos e aprovação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Infra fase 1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1.100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Infra fase 2, 2ª fileira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Segurança, solar, trilha, comedouros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360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Internet comum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250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Paisagismo comum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472788" y="2194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472788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4.110</a:t>
            </a:r>
            <a:endParaRPr lang="en-US" sz="44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72788" y="3200400"/>
          <a:ext cx="32461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Casa Grande, 250 m²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825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Casa de esportes, 250 m²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875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Salão de jogos, 80 m²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Casa do caseiro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160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Tênis com cobertura retrátil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630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Beach tennis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Piscina de raia aquecida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220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Picadeiro coberto 20 × 30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450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Pista externa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Piquete, boxes e sala de sela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Fazenda e animais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8259775" y="2194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CASA, 10 UNIDADES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259775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950</a:t>
            </a:r>
            <a:endParaRPr lang="en-US" sz="4400" dirty="0"/>
          </a:p>
        </p:txBody>
      </p:sp>
      <p:graphicFrame>
        <p:nvGraphicFramePr>
          <p:cNvPr id="8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9775" y="3200400"/>
          <a:ext cx="32461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Cerca viva e portão com videoporteiro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Horta, pomar e galinheiro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250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 Light" pitchFamily="34" charset="0"/>
                          <a:ea typeface="Helvetica Neue Light" pitchFamily="34" charset="-122"/>
                          <a:cs typeface="Helvetica Neue Light" pitchFamily="34" charset="-120"/>
                        </a:rPr>
                        <a:t>Cabeamento e Wi-Fi interno</a:t>
                      </a:r>
                      <a:endParaRPr lang="en-US" sz="1100" dirty="0">
                        <a:latin typeface="Helvetica Neue Light" charset="0"/>
                        <a:ea typeface="Helvetica Neue Light" charset="0"/>
                        <a:cs typeface="Helvetica Neue Light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300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0" marR="27432" marT="9144" marB="914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E4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8259775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Subtotal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591495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8.770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259775" y="4489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Contingência de 8%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0591495" y="4489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700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259775" y="4818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0591495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9.470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259775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Depois da 4ª venda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0591495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520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259775" y="5477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Capex da fase 1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0591495" y="5477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8.950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259775" y="5897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Valores em R$ mil. Ficam para depois da 4ª venda a infra fase 2 e a pista externa.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PREÇO DE VENDA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TICKET DE R$ 5,25 MILHÕES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LOTE, A CUSTO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950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 reais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976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R$ 9,47 milhões divididos por dez lotes. Sai a R$ 475 por metro quadrado.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CASA DE 450 M²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5146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4.050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 reais, a R$ 9 mil/m²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2976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Custo de obra de R$ 5 mil/m², ou R$ 2,25 milhões por casa.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PACOTE DE CONFORTO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5146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250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 reais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2976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Carrinho 70, powerwall 40, solar 25, horta e galinheiro 35. Custo de 170.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TICKET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669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5.250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416552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16552" y="5669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3.370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MARGEM POR UNIDADE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147304" y="5669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1.880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RESULTADO DOS SÓCIOS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SOBRA, ALÉM DAS DUAS CASAS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R$ MILHÕES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Margem bruta das 8 vendas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697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15,04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Custo de venda de 12%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−5,04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Casas dos dois sócios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703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−6,00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Infraestrutura dos lotes dos sócios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−1,90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440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 custo de venda soma 6% de corretagem e 6% de impostos.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800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4800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2,10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1031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2,1</a:t>
            </a:r>
            <a:endParaRPr lang="en-US" sz="12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MILHÕES DE SOBRA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3891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Com RET de 4% em incorporação com patrimônio de afetação, o custo de venda cai para 10% e a sobra sobe para R$ 2,9 milhões.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5394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Valores antes do custo financeiro da obra, tratado no plano de caixa.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SENSIBILIDADE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PREÇO DO METRO DECIDE O RESULTADO</a:t>
            </a:r>
            <a:endParaRPr lang="en-US" sz="3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14884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001000" y="2240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PONTO DE EQUILÍBRIO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514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8,3 mil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383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por metro quadrado, com custo de venda de 12%. Com RET, R$ 8,1 mil.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25196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Cada R$ 500 a menos no metro quadrado tira R$ 1,6 milhão da sobra. A R$ 8,5 mil ela cai para cerca de R$ 500 mil; a R$ 8 mil o projeto não paga as casas dos sócios.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PLANO DE CAIXA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NÃO PÔR O CAPITAL TODO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FASE 0, MESES 0 A 6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1,95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milhão dos sócios, metade cada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976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Terreno 1.100, projetos e aprovação 300, cerca e segurança 200, trilha e paisagismo de implantação 150, material de lançamento 200.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PRÉ-VENDA, MESES 4 A 9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5146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4,7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milhões em entradas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2976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Três unidades com 30% de entrada pagam a infra da fase 1 e o começo dos pavilhões. As parcelas de obra seguem por 18 meses.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OBRA DAS CASAS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5146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60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70%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financiado na produção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2976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 financiamento à produção cobre 70% do custo de cada casa e é quitado com o saldo de 40% no habite-se. Custa cerca de R$ 1 milhão em juros.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Premissas: a obra das casas 4 a 8 começa depois de cada venda e as casas dos sócios ficam entre os meses 22 e 36.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FLUXO DE CAIXA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CAIXA DOS SÓCIOS, MÊS A MÊS</a:t>
            </a:r>
            <a:endParaRPr lang="en-US" sz="3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103120"/>
          <a:ext cx="7680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4964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EXPOSIÇÃO MÁXIMA, MÊS 4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1,58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429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milhão, abaixo da meta de R$ 2,5 milhões.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206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CAIXA POSITIVO DE VEZ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1F2A1F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mês 19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Saldo acumulado com juros da produção já descontados.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CENÁRIO PESSIMISTA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VENDAS SEIS MESES MAIS LENTAS</a:t>
            </a:r>
            <a:endParaRPr lang="en-US" sz="3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103120"/>
          <a:ext cx="7680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4964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EXPOSIÇÃO MÁXIMA, MÊS 6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1,95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429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milhão, com a obra do clube segurada até as entradas chegarem.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343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CAIXA POSITIVO DE VEZ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1F2A1F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mês 25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Se a obra seguir o cronograma sem as vendas, o pico vai a R$ 3,9 milhões.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FINANCIAMENTO AO COMPRADOR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SESSENTA MESES PARA PAGAR</a:t>
            </a:r>
            <a:endParaRPr lang="en-US" sz="3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10312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F2A1F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5,25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MILHÕES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103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ASSINATURA · 30%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R$ 1.575.000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10312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Entrada à vista.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DURANTE A OBRA · 30%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98C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× R$ 87.500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312724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Parcelas mensais até a entrega.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1513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APÓS A ENTREGA · 40%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4407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 × R$ 35.000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151376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Amortização mais correção por IPCA + 1% ao mês. Na tabela Price, cerca de R$ 46,7 mil mais IPCA. Pode ser quitado com financiamento bancário no habite-se.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É o dinheiro que entra durante a obra, entrada e parcelas, que paga a infraestrutura e o clube. Por isso os sócios não precisam aportar o capex.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CRONOGRAMA DE ENTREGA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TERRENO À CHAVE EM 36 MESES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9149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4295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9441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01400" y="1947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28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221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Compra do terreno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2286000"/>
            <a:ext cx="209550" cy="146304"/>
          </a:xfrm>
          <a:prstGeom prst="rect">
            <a:avLst/>
          </a:prstGeom>
          <a:solidFill>
            <a:srgbClr val="1F2A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Projetos, aprovação e incorporação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41470" y="2624328"/>
            <a:ext cx="1257300" cy="146304"/>
          </a:xfrm>
          <a:prstGeom prst="rect">
            <a:avLst/>
          </a:prstGeom>
          <a:solidFill>
            <a:srgbClr val="1F2A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8986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Lançamento e pré-venda de 3 casas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70120" y="2962656"/>
            <a:ext cx="1257300" cy="146304"/>
          </a:xfrm>
          <a:prstGeom prst="rect">
            <a:avLst/>
          </a:prstGeom>
          <a:solidFill>
            <a:srgbClr val="B554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Infra fase 1 e pavilhões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8770" y="3300984"/>
            <a:ext cx="2514600" cy="146304"/>
          </a:xfrm>
          <a:prstGeom prst="rect">
            <a:avLst/>
          </a:prstGeom>
          <a:solidFill>
            <a:srgbClr val="1F2A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57530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Casas 1 a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27420" y="3639312"/>
            <a:ext cx="3771900" cy="146304"/>
          </a:xfrm>
          <a:prstGeom prst="rect">
            <a:avLst/>
          </a:prstGeom>
          <a:solidFill>
            <a:srgbClr val="1F2A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913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Vendas 4 a 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977640"/>
            <a:ext cx="2514600" cy="146304"/>
          </a:xfrm>
          <a:prstGeom prst="rect">
            <a:avLst/>
          </a:prstGeom>
          <a:solidFill>
            <a:srgbClr val="B554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251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Cobertura retrátil, infra fase 2, pista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56070" y="4315968"/>
            <a:ext cx="1257300" cy="146304"/>
          </a:xfrm>
          <a:prstGeom prst="rect">
            <a:avLst/>
          </a:prstGeom>
          <a:solidFill>
            <a:srgbClr val="8A928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590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Casas 4 a 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56070" y="4654296"/>
            <a:ext cx="4819650" cy="146304"/>
          </a:xfrm>
          <a:prstGeom prst="rect">
            <a:avLst/>
          </a:prstGeom>
          <a:solidFill>
            <a:srgbClr val="1F2A1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9286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Casas dos sócios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42020" y="4992624"/>
            <a:ext cx="2933700" cy="146304"/>
          </a:xfrm>
          <a:prstGeom prst="rect">
            <a:avLst/>
          </a:prstGeom>
          <a:solidFill>
            <a:srgbClr val="8A928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486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MÊS 4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Lançamento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5486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MÊS 18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429000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Clube aberto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5486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MÊS 28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Primeiras entregas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8915400" y="5486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MÊS 36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915400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Últimas casas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RISCOS E PREMISSAS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PRECISA DAR CERTO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ZONEAMENTO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Zona urbana ou de expansão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077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Lotes de 2.000 m² em condomínio de lotes dependem disso (Lei 13.465). É o primeiro ponto a confirmar.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72788" y="2194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INCORPORAÇÃO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Casa na planta é incorporação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9077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Lei 4.591: registro antes de vender, patrimônio de afetação e opção pelo RET. O registro precisa sair até o lançamento.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59775" y="21945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OBRA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59775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Preço fechado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9077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Contrato com a construtora a preço fechado tira dos sócios o risco de estouro de custo.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2519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LIQUIDEZ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544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Mercado mais estreito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9651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Iperó e Boituva giram menos que Itu e Porto Feliz. O argumento de venda é a casa pronta com clube.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72788" y="42519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RATEIO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472788" y="4544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Depende do uso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72788" y="49651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Sem uso dos serviços, o condomínio custa R$ 5.050 por casa. Com uso médio, R$ 3.250.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59775" y="42519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B554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PREÇO DE REFERÊNCIA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259775" y="4544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R$ 475/m² no lote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59775" y="496519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Lotes de alto padrão na região saem entre R$ 250 e 500/m². O nosso, a custo, cabe na faixa.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EA0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38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229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F3EEE4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000" b="1" dirty="0">
                <a:solidFill>
                  <a:srgbClr val="F3EE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FECHAMENTO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800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EEE4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Três nomes possíveis e os próximos passos.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TRÊS NOMES PARA A VILA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PROPOSTA 01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58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Saibro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Onde a semana termina em terra batida.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O nome vem do chão das ruas. Curto, rural e fácil de dizer.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2788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PROPOSTA 02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72788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58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Porteira</a:t>
            </a:r>
            <a:endParaRPr lang="en-US" sz="5800" dirty="0"/>
          </a:p>
        </p:txBody>
      </p:sp>
      <p:sp>
        <p:nvSpPr>
          <p:cNvPr id="12" name="Text 10"/>
          <p:cNvSpPr txBox="1"/>
          <p:nvPr/>
        </p:nvSpPr>
        <p:spPr>
          <a:xfrm>
            <a:off x="4472788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lado de cá, ninguém cuida de nada.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A porteira por onde chegam os cavalos vira o símbolo da chegada.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59775" y="25146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PROPOSTA 03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59775" y="2788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5000"/>
              </a:lnSpc>
              <a:buNone/>
            </a:pPr>
            <a:r>
              <a:rPr lang="en-US" sz="58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Sereno</a:t>
            </a:r>
            <a:endParaRPr lang="en-US" sz="5800" dirty="0"/>
          </a:p>
        </p:txBody>
      </p:sp>
      <p:sp>
        <p:nvSpPr>
          <p:cNvPr id="16" name="Text 14"/>
          <p:cNvSpPr txBox="1"/>
          <p:nvPr/>
        </p:nvSpPr>
        <p:spPr>
          <a:xfrm>
            <a:off x="8259775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fim de semana começa no sereno da sexta.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59775" y="457200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Lembra a noite no campo e o ritmo calmo que a vila promete.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Vila Boutique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478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350" kern="0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PRÓXIMOS PASSOS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68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38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FAZER AGORA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Zoneamento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23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Confirmar com a prefeitura que a área é urbana ou de expansão urbana.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00018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3500018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Topografia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00018" y="4023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Levantamento planialtimétrico para ajustar via, drenagem e implantação.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14237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03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6314237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Proprietário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14237" y="4023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Proposta pelo terreno, condicionada ao zoneamento e à aprovação.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28455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B5543A"/>
                </a:solidFill>
                <a:latin typeface="Helvetica Neue UltraLight" pitchFamily="34" charset="0"/>
                <a:ea typeface="Helvetica Neue UltraLight" pitchFamily="34" charset="-122"/>
                <a:cs typeface="Helvetica Neue UltraLight" pitchFamily="34" charset="-120"/>
              </a:rPr>
              <a:t>04</a:t>
            </a:r>
            <a:endParaRPr lang="en-US" sz="7200" dirty="0"/>
          </a:p>
        </p:txBody>
      </p:sp>
      <p:sp>
        <p:nvSpPr>
          <p:cNvPr id="16" name="Text 14"/>
          <p:cNvSpPr txBox="1"/>
          <p:nvPr/>
        </p:nvSpPr>
        <p:spPr>
          <a:xfrm>
            <a:off x="9128455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F2A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Masterplan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128455" y="4023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Helvetica Neue Light" pitchFamily="34" charset="0"/>
                <a:ea typeface="Helvetica Neue Light" pitchFamily="34" charset="-122"/>
                <a:cs typeface="Helvetica Neue Light" pitchFamily="34" charset="-120"/>
              </a:rPr>
              <a:t>Masterplan com o arquiteto Castelo Branco e o paisagista Daniel Nunes.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la Boutique">
  <a:themeElements>
    <a:clrScheme name="Vila Boutique">
      <a:dk1>
        <a:srgbClr val="1F2A1F"/>
      </a:dk1>
      <a:lt1>
        <a:srgbClr val="F3EEE4"/>
      </a:lt1>
      <a:dk2>
        <a:srgbClr val="1F2A1F"/>
      </a:dk2>
      <a:lt2>
        <a:srgbClr val="FFFFFF"/>
      </a:lt2>
      <a:accent1>
        <a:srgbClr val="B5543A"/>
      </a:accent1>
      <a:accent2>
        <a:srgbClr val="1F2A1F"/>
      </a:accent2>
      <a:accent3>
        <a:srgbClr val="DDB3A3"/>
      </a:accent3>
      <a:accent4>
        <a:srgbClr val="8A9285"/>
      </a:accent4>
      <a:accent5>
        <a:srgbClr val="C9BFAE"/>
      </a:accent5>
      <a:accent6>
        <a:srgbClr val="6B4E3D"/>
      </a:accent6>
      <a:hlink>
        <a:srgbClr val="B5543A"/>
      </a:hlink>
      <a:folHlink>
        <a:srgbClr val="1F2A1F"/>
      </a:folHlink>
    </a:clrScheme>
    <a:fontScheme name="Vila Boutiqu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Vila Boutique, prospecto e viabilidade</dc:title>
  <dc:subject>PptxGenJS Presentation</dc:subject>
  <dc:creator>PptxGenJS</dc:creator>
  <cp:lastModifiedBy>PptxGenJS</cp:lastModifiedBy>
  <cp:revision>1</cp:revision>
  <dcterms:created xsi:type="dcterms:W3CDTF">2026-10-24T14:36:10Z</dcterms:created>
  <dcterms:modified xsi:type="dcterms:W3CDTF">2026-10-24T14:36:10Z</dcterms:modified>
</cp:coreProperties>
</file>